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25880" y="190195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17D65"/>
                </a:solidFill>
                <a:latin typeface="Arial"/>
              </a:rPr>
              <a:t>PROJET GO · SOUTENANCE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8448" y="2212848"/>
            <a:ext cx="95097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1A1F1E"/>
                </a:solidFill>
                <a:latin typeface="Arial"/>
              </a:rPr>
              <a:t>WasmRedis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3310128"/>
            <a:ext cx="87782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F7573"/>
                </a:solidFill>
                <a:latin typeface="Arial"/>
              </a:rPr>
              <a:t>Un moteur clé-valeur persistant écrit en Go,
et son tableau de bord React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5880" y="4279392"/>
            <a:ext cx="3108960" cy="1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44988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AA0A0"/>
                </a:solidFill>
                <a:latin typeface="Arial"/>
              </a:rPr>
              <a:t>Parser  ·  Journal AOF  ·  Snapshots  ·  Index typés  ·  TTL  ·  API HTTP</a:t>
            </a:r>
          </a:p>
        </p:txBody>
      </p:sp>
      <p:sp>
        <p:nvSpPr>
          <p:cNvPr id="8" name="Rectangle 7"/>
          <p:cNvSpPr/>
          <p:nvPr/>
        </p:nvSpPr>
        <p:spPr>
          <a:xfrm>
            <a:off x="1325880" y="5047488"/>
            <a:ext cx="7863840" cy="566928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17904" y="5221224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96750"/>
                </a:solidFill>
                <a:latin typeface="Arial"/>
              </a:rPr>
              <a:t>Fil rouge : que se passe-t-il, précisément, quand on tape  </a:t>
            </a:r>
            <a:r>
              <a:rPr sz="1222" b="1" i="0">
                <a:solidFill>
                  <a:srgbClr val="196750"/>
                </a:solidFill>
                <a:latin typeface="Consolas"/>
              </a:rPr>
              <a:t>SET age 42</a:t>
            </a:r>
            <a:r>
              <a:rPr sz="1300" b="1" i="0">
                <a:solidFill>
                  <a:srgbClr val="196750"/>
                </a:solidFill>
                <a:latin typeface="Arial"/>
              </a:rPr>
              <a:t> 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VUE D'ENSEMBLE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Le projet en trois phrases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54480"/>
            <a:ext cx="105823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F7573"/>
                </a:solidFill>
                <a:latin typeface="Arial"/>
              </a:rPr>
              <a:t>WasmRedis est un </a:t>
            </a:r>
            <a:r>
              <a:rPr sz="1500" b="1" i="0">
                <a:solidFill>
                  <a:srgbClr val="1A1F1E"/>
                </a:solidFill>
                <a:latin typeface="Arial"/>
              </a:rPr>
              <a:t>magasin clé-valeur</a:t>
            </a:r>
            <a:r>
              <a:rPr sz="1500" b="0" i="0">
                <a:solidFill>
                  <a:srgbClr val="6F7573"/>
                </a:solidFill>
                <a:latin typeface="Arial"/>
              </a:rPr>
              <a:t> : il garde des paires clé → valeur en mémoire vive, et les écrit sur le disque pour qu'elles survivent à un redémarrage.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2331720"/>
            <a:ext cx="105823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F7573"/>
                </a:solidFill>
                <a:latin typeface="Arial"/>
              </a:rPr>
              <a:t>On lui parle en </a:t>
            </a:r>
            <a:r>
              <a:rPr sz="1500" b="1" i="0">
                <a:solidFill>
                  <a:srgbClr val="1A1F1E"/>
                </a:solidFill>
                <a:latin typeface="Arial"/>
              </a:rPr>
              <a:t>commandes</a:t>
            </a:r>
            <a:r>
              <a:rPr sz="1500" b="0" i="0">
                <a:solidFill>
                  <a:srgbClr val="6F7573"/>
                </a:solidFill>
                <a:latin typeface="Arial"/>
              </a:rPr>
              <a:t> — </a:t>
            </a:r>
            <a:r>
              <a:rPr sz="1410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500" b="0" i="0">
                <a:solidFill>
                  <a:srgbClr val="6F7573"/>
                </a:solidFill>
                <a:latin typeface="Arial"/>
              </a:rPr>
              <a:t>, </a:t>
            </a:r>
            <a:r>
              <a:rPr sz="1410" b="0" i="0">
                <a:solidFill>
                  <a:srgbClr val="196750"/>
                </a:solidFill>
                <a:latin typeface="Consolas"/>
              </a:rPr>
              <a:t>GET</a:t>
            </a:r>
            <a:r>
              <a:rPr sz="1500" b="0" i="0">
                <a:solidFill>
                  <a:srgbClr val="6F7573"/>
                </a:solidFill>
                <a:latin typeface="Arial"/>
              </a:rPr>
              <a:t>, </a:t>
            </a:r>
            <a:r>
              <a:rPr sz="1410" b="0" i="0">
                <a:solidFill>
                  <a:srgbClr val="196750"/>
                </a:solidFill>
                <a:latin typeface="Consolas"/>
              </a:rPr>
              <a:t>DEL</a:t>
            </a:r>
            <a:r>
              <a:rPr sz="1500" b="0" i="0">
                <a:solidFill>
                  <a:srgbClr val="6F7573"/>
                </a:solidFill>
                <a:latin typeface="Arial"/>
              </a:rPr>
              <a:t>, </a:t>
            </a:r>
            <a:r>
              <a:rPr sz="1410" b="0" i="0">
                <a:solidFill>
                  <a:srgbClr val="196750"/>
                </a:solidFill>
                <a:latin typeface="Consolas"/>
              </a:rPr>
              <a:t>PING</a:t>
            </a:r>
            <a:r>
              <a:rPr sz="1500" b="0" i="0">
                <a:solidFill>
                  <a:srgbClr val="6F7573"/>
                </a:solidFill>
                <a:latin typeface="Arial"/>
              </a:rPr>
              <a:t>, </a:t>
            </a:r>
            <a:r>
              <a:rPr sz="1410" b="0" i="0">
                <a:solidFill>
                  <a:srgbClr val="196750"/>
                </a:solidFill>
                <a:latin typeface="Consolas"/>
              </a:rPr>
              <a:t>GET WHERE</a:t>
            </a:r>
            <a:r>
              <a:rPr sz="1500" b="0" i="0">
                <a:solidFill>
                  <a:srgbClr val="6F7573"/>
                </a:solidFill>
                <a:latin typeface="Arial"/>
              </a:rPr>
              <a:t> — depuis un terminal interactif ou une API HTTP.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2857500"/>
            <a:ext cx="10582351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F7573"/>
                </a:solidFill>
                <a:latin typeface="Arial"/>
              </a:rPr>
              <a:t>Un </a:t>
            </a:r>
            <a:r>
              <a:rPr sz="1500" b="1" i="0">
                <a:solidFill>
                  <a:srgbClr val="1A1F1E"/>
                </a:solidFill>
                <a:latin typeface="Arial"/>
              </a:rPr>
              <a:t>tableau de bord React</a:t>
            </a:r>
            <a:r>
              <a:rPr sz="1500" b="0" i="0">
                <a:solidFill>
                  <a:srgbClr val="6F7573"/>
                </a:solidFill>
                <a:latin typeface="Arial"/>
              </a:rPr>
              <a:t> se branche sur cette API pour piloter des files de tâches et montrer le moteur à l'œuvre.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" y="3950208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4224528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7D65"/>
                </a:solidFill>
                <a:latin typeface="Arial"/>
              </a:rPr>
              <a:t>1 749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663440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0A0"/>
                </a:solidFill>
                <a:latin typeface="Arial"/>
              </a:rPr>
              <a:t>lignes de Go
hors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11414" y="4224528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7D65"/>
                </a:solidFill>
                <a:latin typeface="Arial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11414" y="4663440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0A0"/>
                </a:solidFill>
                <a:latin typeface="Arial"/>
              </a:rPr>
              <a:t>paquets, sans
dépendance circulaire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01036" y="4224528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7D65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036" y="4663440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0A0"/>
                </a:solidFill>
                <a:latin typeface="Arial"/>
              </a:rPr>
              <a:t>dépendances externes
btree et flock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0658" y="4224528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7D65"/>
                </a:solidFill>
                <a:latin typeface="Arial"/>
              </a:rPr>
              <a:t>28 + 4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0658" y="4663440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0A0"/>
                </a:solidFill>
                <a:latin typeface="Arial"/>
              </a:rPr>
              <a:t>tests Go
et tests navigateur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80280" y="4224528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17D65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0280" y="4663440"/>
            <a:ext cx="191530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0A0"/>
                </a:solidFill>
                <a:latin typeface="Arial"/>
              </a:rPr>
              <a:t>commentaire dans
le code 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574243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86130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 code ne porte aucun commentaire : c'est une règle du projet. Les explications vivent dans le README et dans cette présentation.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LE PÉRIMÈTRE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Deux moitiés qu'il ne faut pas confondre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554480"/>
            <a:ext cx="52728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54480"/>
            <a:ext cx="32004" cy="2331720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Le magasin clé-valeur — persisté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5109"/>
            <a:ext cx="4870551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Chaque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chaque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DEL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finit dans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data/aof.log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puis dans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data/snapshot.json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Arrêtez le programme, relancez-le : les clés sont toujours là.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C'est l'objet des cinq phases de la feuille de route.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5272887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7015" y="1554480"/>
            <a:ext cx="32004" cy="2331720"/>
          </a:xfrm>
          <a:prstGeom prst="rect">
            <a:avLst/>
          </a:prstGeom>
          <a:solidFill>
            <a:srgbClr val="D5A44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471" y="1737360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Les files de tâches — en mémoire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71" y="2015109"/>
            <a:ext cx="4870551" cy="1783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Elles vivent dans une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map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du serveur HTTP, et rien d'autre.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Redémarrez le serveur : les files ont disparu.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Elles servent à démontrer l'API et l'interface, pas à stocker durablement.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206240"/>
            <a:ext cx="1094811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1F1E"/>
                </a:solidFill>
                <a:latin typeface="Arial"/>
              </a:rPr>
              <a:t>Pourquoi cette dissymétrie ?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7573"/>
                </a:solidFill>
                <a:latin typeface="Arial"/>
              </a:rPr>
              <a:t>La persistance demandée portait sur le stockage clé-valeur. Persister aussi les files aurait doublé le travail sans rien démontrer de plus : c'est le même journal, le même snapshot, la même reprise. Le choix est assumé et écrit noir sur blanc dans l'interface elle-même, en bas de l'écran.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5577840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696712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« Files en mémoire : elles disparaîssent au redémarrage du serveur. » — le texte affiché sous la liste des tâches.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Sept paquets, et des dépendances qui ne remontent jamais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25861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764792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cli.go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011680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terminal interactif</a:t>
            </a:r>
          </a:p>
        </p:txBody>
      </p:sp>
      <p:sp>
        <p:nvSpPr>
          <p:cNvPr id="8" name="Rectangle 7"/>
          <p:cNvSpPr/>
          <p:nvPr/>
        </p:nvSpPr>
        <p:spPr>
          <a:xfrm>
            <a:off x="3409111" y="1645920"/>
            <a:ext cx="25861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5415" y="1764792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server.go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5415" y="2011680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serveur HTTP + démo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431" y="1645920"/>
            <a:ext cx="25861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42735" y="1764792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web/src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2735" y="2011680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React + Tailwind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83751" y="1645920"/>
            <a:ext cx="258615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30055" y="1764792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main.go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0055" y="2011680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réglages, signaux, arrêt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09111" y="2615184"/>
            <a:ext cx="5373471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5415" y="2734056"/>
            <a:ext cx="508086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internal/api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5415" y="2980944"/>
            <a:ext cx="508086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routes HTTP, JSON, codes d'erreur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" y="3584448"/>
            <a:ext cx="10948111" cy="786384"/>
          </a:xfrm>
          <a:prstGeom prst="rect">
            <a:avLst/>
          </a:prstGeom>
          <a:solidFill>
            <a:srgbClr val="E8F1ED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703320"/>
            <a:ext cx="1065550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internal/engine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950208"/>
            <a:ext cx="1065550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état, commandes, persistance, requêtes, expiration, files de tâches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" y="4700016"/>
            <a:ext cx="258615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481888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internal/command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" y="5065776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parser, types de commandes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09111" y="4700016"/>
            <a:ext cx="258615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55415" y="481888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internal/index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5415" y="5065776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index inversé + B-Tree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6431" y="4700016"/>
            <a:ext cx="258615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42735" y="481888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internal/storage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42735" y="5065776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fichiers, écriture atomique, verrous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83751" y="4700016"/>
            <a:ext cx="2586151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30055" y="4818888"/>
            <a:ext cx="2293543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Consolas"/>
              </a:rPr>
              <a:t>internal/config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30055" y="5065776"/>
            <a:ext cx="2293543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F7573"/>
                </a:solidFill>
                <a:latin typeface="Arial"/>
              </a:rPr>
              <a:t>variables d'environnement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5650992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769864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 moteur connaît la ligne du bas ; la ligne du bas ne connaît pas le moteur. Go refuse les cycles d'import — l'architecture est donc vérifiée par le compilateur.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4651895" y="2359152"/>
            <a:ext cx="100584" cy="219456"/>
          </a:xfrm>
          <a:prstGeom prst="downArrow">
            <a:avLst/>
          </a:prstGeom>
          <a:solidFill>
            <a:srgbClr val="C8CF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Down Arrow 37"/>
          <p:cNvSpPr/>
          <p:nvPr/>
        </p:nvSpPr>
        <p:spPr>
          <a:xfrm>
            <a:off x="7439215" y="2359152"/>
            <a:ext cx="100584" cy="219456"/>
          </a:xfrm>
          <a:prstGeom prst="downArrow">
            <a:avLst/>
          </a:prstGeom>
          <a:solidFill>
            <a:srgbClr val="C8CF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Down Arrow 38"/>
          <p:cNvSpPr/>
          <p:nvPr/>
        </p:nvSpPr>
        <p:spPr>
          <a:xfrm>
            <a:off x="5944971" y="3328416"/>
            <a:ext cx="100584" cy="219456"/>
          </a:xfrm>
          <a:prstGeom prst="downArrow">
            <a:avLst/>
          </a:prstGeom>
          <a:solidFill>
            <a:srgbClr val="C8CFC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Down Arrow 39"/>
          <p:cNvSpPr/>
          <p:nvPr/>
        </p:nvSpPr>
        <p:spPr>
          <a:xfrm>
            <a:off x="1864575" y="4425696"/>
            <a:ext cx="100584" cy="237744"/>
          </a:xfrm>
          <a:prstGeom prst="downArrow">
            <a:avLst/>
          </a:prstGeom>
          <a:solidFill>
            <a:srgbClr val="DDE2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Down Arrow 40"/>
          <p:cNvSpPr/>
          <p:nvPr/>
        </p:nvSpPr>
        <p:spPr>
          <a:xfrm>
            <a:off x="4651895" y="4425696"/>
            <a:ext cx="100584" cy="237744"/>
          </a:xfrm>
          <a:prstGeom prst="downArrow">
            <a:avLst/>
          </a:prstGeom>
          <a:solidFill>
            <a:srgbClr val="DDE2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Down Arrow 41"/>
          <p:cNvSpPr/>
          <p:nvPr/>
        </p:nvSpPr>
        <p:spPr>
          <a:xfrm>
            <a:off x="7439215" y="4425696"/>
            <a:ext cx="100584" cy="237744"/>
          </a:xfrm>
          <a:prstGeom prst="downArrow">
            <a:avLst/>
          </a:prstGeom>
          <a:solidFill>
            <a:srgbClr val="DDE2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Down Arrow 42"/>
          <p:cNvSpPr/>
          <p:nvPr/>
        </p:nvSpPr>
        <p:spPr>
          <a:xfrm>
            <a:off x="10226535" y="4425696"/>
            <a:ext cx="100584" cy="237744"/>
          </a:xfrm>
          <a:prstGeom prst="downArrow">
            <a:avLst/>
          </a:prstGeom>
          <a:solidFill>
            <a:srgbClr val="DDE2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LE MODÈLE DE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Tout l'état du moteur tient dans une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05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3924255" cy="40416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957527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6711" y="1554480"/>
            <a:ext cx="6283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state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est une simple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map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toutes les clés tiennent en mémoire vive.</a:t>
            </a:r>
          </a:p>
        </p:txBody>
      </p:sp>
      <p:sp>
        <p:nvSpPr>
          <p:cNvPr id="8" name="Oval 7"/>
          <p:cNvSpPr/>
          <p:nvPr/>
        </p:nvSpPr>
        <p:spPr>
          <a:xfrm>
            <a:off x="4957527" y="20071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6711" y="1975104"/>
            <a:ext cx="6283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 seul verrou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mu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protège l'ensemble du moteur.</a:t>
            </a:r>
          </a:p>
        </p:txBody>
      </p:sp>
      <p:sp>
        <p:nvSpPr>
          <p:cNvPr id="10" name="Oval 9"/>
          <p:cNvSpPr/>
          <p:nvPr/>
        </p:nvSpPr>
        <p:spPr>
          <a:xfrm>
            <a:off x="4957527" y="242773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6711" y="2395728"/>
            <a:ext cx="6283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now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est une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fonction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pas un appel à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time.Now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en dur : les tests y injectent une horloge qu'ils contrôlent.</a:t>
            </a:r>
          </a:p>
        </p:txBody>
      </p:sp>
      <p:sp>
        <p:nvSpPr>
          <p:cNvPr id="12" name="Oval 11"/>
          <p:cNvSpPr/>
          <p:nvPr/>
        </p:nvSpPr>
        <p:spPr>
          <a:xfrm>
            <a:off x="4957527" y="297611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6711" y="2944114"/>
            <a:ext cx="6283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buffer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retient les écritures qui n'ont pas encore été versées au journal.</a:t>
            </a:r>
          </a:p>
        </p:txBody>
      </p:sp>
      <p:sp>
        <p:nvSpPr>
          <p:cNvPr id="14" name="Oval 13"/>
          <p:cNvSpPr/>
          <p:nvPr/>
        </p:nvSpPr>
        <p:spPr>
          <a:xfrm>
            <a:off x="4957527" y="339674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6711" y="3364738"/>
            <a:ext cx="6283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sequence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numérote chaque opération — la clé de la reprise après une panne.</a:t>
            </a:r>
          </a:p>
        </p:txBody>
      </p:sp>
      <p:sp>
        <p:nvSpPr>
          <p:cNvPr id="16" name="Oval 15"/>
          <p:cNvSpPr/>
          <p:nvPr/>
        </p:nvSpPr>
        <p:spPr>
          <a:xfrm>
            <a:off x="4957527" y="381736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6711" y="3785362"/>
            <a:ext cx="628319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valeur, c'est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du texte plus un booléen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 Les comparaisons numériques passent par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float64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Un nombre entre guillemets reste une chaîne. Cette décision, prise une seule fois à l'écriture, gouverne ensuite toutes les recherches.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CFC2"/>
                </a:solidFill>
                <a:latin typeface="Arial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24912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Que se passe-t-il quand on fait un SET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13632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On suit une seule ligne de texte — SET age 42 — depuis le clavier jusqu'au disque.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Sept étapes, sept fichiers, et une seule d'entre elles touche vraiment le disque.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LA CARTE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SET age 42, de bout en bout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54480"/>
            <a:ext cx="1600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09900" y="1554480"/>
            <a:ext cx="203279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A0A0"/>
                </a:solidFill>
                <a:latin typeface="Arial"/>
              </a:rPr>
              <a:t>ÉTAPE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0711" y="1554480"/>
            <a:ext cx="2464957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A0A0"/>
                </a:solidFill>
                <a:latin typeface="Arial"/>
              </a:rPr>
              <a:t>OÙ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3685" y="1554480"/>
            <a:ext cx="577820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A0A0"/>
                </a:solidFill>
                <a:latin typeface="Arial"/>
              </a:rPr>
              <a:t>CE QUI SE PASSE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" y="1810512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01952"/>
            <a:ext cx="160092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900" y="1901952"/>
            <a:ext cx="2032795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Découper la ligne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0711" y="1901952"/>
            <a:ext cx="2464957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command/command.go ·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3685" y="1901952"/>
            <a:ext cx="5778201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« SET age 42 » devient trois jetons, en retenant lesquels étaient entre guillemets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230606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2365502"/>
            <a:ext cx="160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900" y="2365502"/>
            <a:ext cx="20327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Reconnaître la commande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0711" y="2365502"/>
            <a:ext cx="246495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command/command.go · Parse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3685" y="2365502"/>
            <a:ext cx="577820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Les jetons deviennent une structure Command, ou une erreur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2680970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2740406"/>
            <a:ext cx="160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900" y="2740406"/>
            <a:ext cx="20327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Décider du 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70711" y="2740406"/>
            <a:ext cx="246495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command/command.go · numeric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3685" y="2740406"/>
            <a:ext cx="577820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42 est-il un nombre ou une chaîne ? La réponse est figée ici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" y="3055874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3115310"/>
            <a:ext cx="160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900" y="3115310"/>
            <a:ext cx="20327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Valider et verrouiller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70711" y="3115310"/>
            <a:ext cx="246495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engine/engine.go ·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3685" y="3115310"/>
            <a:ext cx="577820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 moteur revérifie tout, puis prend le verrou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" y="3430778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3490214"/>
            <a:ext cx="160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900" y="3490214"/>
            <a:ext cx="20327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Écrire en mémoire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70711" y="3490214"/>
            <a:ext cx="246495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engine/engine.go +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3685" y="3490214"/>
            <a:ext cx="577820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La map et les deux index sont mis à jour ensemble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" y="3805682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3865118"/>
            <a:ext cx="1600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900" y="3865118"/>
            <a:ext cx="203279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Empiler l'opération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70711" y="3865118"/>
            <a:ext cx="2464957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engine/engine.go · record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3685" y="3865118"/>
            <a:ext cx="577820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L'opération numérotée entre dans un tampon ; SET peut retourner 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418058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" y="4240022"/>
            <a:ext cx="160092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900" y="4240022"/>
            <a:ext cx="2032795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Écrire sur le disque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70711" y="4240022"/>
            <a:ext cx="2464957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storage/storage.go · AppendAOF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3685" y="4240022"/>
            <a:ext cx="5778201" cy="34467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Au plus tard une seconde plus tard, le tampon est versé au journal et synchronisé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" y="464413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Les étapes 1 à 6 ne quittent jamais la mémoire. C'est la septième, différée, qui sépare « rapide » de « durable ».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1 · LE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Découper la ligne sans perdre les guillemets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07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591390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624662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53846" y="1554480"/>
            <a:ext cx="4616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Tant qu'un guillemet est ouvert, chaque caractère est pris tel quel : c'est ce qui permet d'écrire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 nom "Ada Lovelace"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624662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846" y="2290191"/>
            <a:ext cx="4616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guillemet n'est pas conservé dans le texte, mais il laisse une trace :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quoted = true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624662" y="2870581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53846" y="2838577"/>
            <a:ext cx="4616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Hors guillemets, une espace ferme le mot courant. C'est ce qui découpe la ligne en jetons.</a:t>
            </a:r>
          </a:p>
        </p:txBody>
      </p:sp>
      <p:sp>
        <p:nvSpPr>
          <p:cNvPr id="12" name="Oval 11"/>
          <p:cNvSpPr/>
          <p:nvPr/>
        </p:nvSpPr>
        <p:spPr>
          <a:xfrm>
            <a:off x="6624662" y="341896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53846" y="3386963"/>
            <a:ext cx="4616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Chaque jeton retient son texte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s'il était entre guillemets. Cette seconde information décidera du type à l'étape 3.</a:t>
            </a:r>
          </a:p>
        </p:txBody>
      </p:sp>
      <p:sp>
        <p:nvSpPr>
          <p:cNvPr id="14" name="Oval 13"/>
          <p:cNvSpPr/>
          <p:nvPr/>
        </p:nvSpPr>
        <p:spPr>
          <a:xfrm>
            <a:off x="6624662" y="415467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53846" y="4122674"/>
            <a:ext cx="46160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 guillemet jamais refermé est une erreur franche, pas un mot qui déborde.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La branche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default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omise ici, se contente d'ajouter le caractère au mot en cours. Les échappements ne sont pas interprétés : c'est un choix de simplicité.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2 · LE PARSER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Des jetons à une commande, ou une erreur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08_pa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388740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a soit trois jetons, soit cinq avec l'expiration. Toute autre longueur est refusée avant d'atteindre le moteur.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29019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La clé et la valeur sont simplement recopiées : le parser ne les transforme pas.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2870581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2838577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type est décidé ici, une fois pour toutes.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41896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386963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EX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n'accepte que des chiffres :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strings.Trim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retire tous les chiffres et vérifie qu'il ne reste rien — pas de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-5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pas de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3.5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4" name="Oval 13"/>
          <p:cNvSpPr/>
          <p:nvPr/>
        </p:nvSpPr>
        <p:spPr>
          <a:xfrm>
            <a:off x="7592263" y="415467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1447" y="4122674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La durée est reconstruite en secondes, puis revalidée : une durée nulle ou négative est refusée.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 parser ne touche jamais aux données. Il transforme du texte en une valeur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Command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ou il renvoie une erreur — et rien n'a bougé.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3 · LE TYPAGE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Une fonction de six lignes décide de tout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09_nume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641942" cy="17373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1792" y="34427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410712"/>
            <a:ext cx="570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 jeton qui était entre guillemets est une chaîne, point final.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3863339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831336"/>
            <a:ext cx="570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Sinon, on tente une conversion en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float64</a:t>
            </a:r>
            <a:r>
              <a:rPr sz="120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428396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251960"/>
            <a:ext cx="570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NaN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et l'infini se convertissent sans erreur mais ne sont pas des nombres utilisables : ils redeviennent des chaînes.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9752" y="1554480"/>
            <a:ext cx="236467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446" y="1554480"/>
            <a:ext cx="178944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STOCKÉ COMME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59752" y="1810512"/>
            <a:ext cx="441015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236467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SET age 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446" y="1901952"/>
            <a:ext cx="178944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nombre 42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9752" y="2217420"/>
            <a:ext cx="441015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59752" y="2276856"/>
            <a:ext cx="236467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SET age "42"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2446" y="2276856"/>
            <a:ext cx="178944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chaîne « 42 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59752" y="2592324"/>
            <a:ext cx="441015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9752" y="2651760"/>
            <a:ext cx="236467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SET age 4e3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52446" y="2651760"/>
            <a:ext cx="178944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nombre 4 000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9752" y="2967228"/>
            <a:ext cx="441015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59752" y="3026664"/>
            <a:ext cx="236467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SET age NaN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2446" y="3026664"/>
            <a:ext cx="178944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chaîne « NaN 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59752" y="3342132"/>
            <a:ext cx="441015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3401568"/>
            <a:ext cx="236467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SET nom 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52446" y="3401568"/>
            <a:ext cx="1789441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chaîne « Ada 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59752" y="3717036"/>
            <a:ext cx="441015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Vérifié en vrai : après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SET a 4e3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la recherche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GET WHERE value &gt;= 3999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trouve la clé — mais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GET a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rend toujours le texte d'origine, « 4e3 ». Le texte est conservé, le nombre sert à comparer.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4 · LE MOTEUR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Refuser tôt, verrouiller tard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1_set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379731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 TTL négatif n'a pas de sens : refus immédiat.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13487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102866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Si le parser a annoncé un nombre, le moteur le revérifie lui-même — l'API Go est publique et peut être appelée sans passer par le parser.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305790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3025902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F1E"/>
                </a:solidFill>
                <a:latin typeface="Arial"/>
              </a:rPr>
              <a:t>Tout ce qui précède se fait hors du verrou.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On ne bloque les autres appels qu'une fois les validations passées.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7936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761613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defer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garantit le déverrouillage, y compris sur les retours d'erreur qui suivent.</a:t>
            </a:r>
          </a:p>
        </p:txBody>
      </p:sp>
      <p:sp>
        <p:nvSpPr>
          <p:cNvPr id="14" name="Oval 13"/>
          <p:cNvSpPr/>
          <p:nvPr/>
        </p:nvSpPr>
        <p:spPr>
          <a:xfrm>
            <a:off x="7592263" y="434200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1447" y="4309999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sans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EX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hérite du TTL par défaut de la configuration : zéro, donc aucune expiration, sauf réglage contraire.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Valider, puis verrouiller, puis modifier. Une commande destinée à être refusée n'aura jamais fait attendre les autres.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5 · LE MOTEUR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Construire l'entrée, puis publier le changement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2_set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300332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L'entrée est construite d'un bloc : clé, valeur, type.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13487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102866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L'expiration est une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date absolue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calculée maintenant — pas une durée qui décompte.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268325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2651252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Garde-fou : cette date doit survivre à l'aller-retour en nanosecondes, car c'est sous cette forme qu'elle sera écrite dans le journal.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41896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386963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L'index est mis à jour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avant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la mémoire. S'il échoue,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e.state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n'a pas bougé : jamais d'index désynchronisé des données.</a:t>
            </a:r>
          </a:p>
        </p:txBody>
      </p:sp>
      <p:sp>
        <p:nvSpPr>
          <p:cNvPr id="14" name="Oval 13"/>
          <p:cNvSpPr/>
          <p:nvPr/>
        </p:nvSpPr>
        <p:spPr>
          <a:xfrm>
            <a:off x="7592263" y="415467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1447" y="4122674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L'écriture elle-même : une affectation dans une map. Un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sur une clé existante la remplace, sans cas particulier.</a:t>
            </a:r>
          </a:p>
        </p:txBody>
      </p:sp>
      <p:sp>
        <p:nvSpPr>
          <p:cNvPr id="16" name="Oval 15"/>
          <p:cNvSpPr/>
          <p:nvPr/>
        </p:nvSpPr>
        <p:spPr>
          <a:xfrm>
            <a:off x="7592263" y="4890389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1447" y="4858385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L'opération est enregistrée pour le journal. À cet instant, elle n'est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pas encore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sur le disque.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Trois lignes suffisent à écrire : index, mémoire, journal. L'ordre entre les trois, lui, n'est pas négociable.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5 · LES INDEX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Une écriture, quatre structures tenues à jour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3_index_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401868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scalar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normalise : un nombre est converti puis reformaté.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4e3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4000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deviennent la même entrée d'index.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29019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Remplacer, c'est d'abord supprimer. Sans cette ligne, l'ancienne valeur garderait la clé dans son ensemble et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GET WHERE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mentirait.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305790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3025902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L'arbre des clés, pour les recherches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GET WHERE key &gt; …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60629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574288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valeur encore inconnue crée son ensemble et entre dans l'arbre des valeurs.</a:t>
            </a:r>
          </a:p>
        </p:txBody>
      </p:sp>
      <p:sp>
        <p:nvSpPr>
          <p:cNvPr id="14" name="Oval 13"/>
          <p:cNvSpPr/>
          <p:nvPr/>
        </p:nvSpPr>
        <p:spPr>
          <a:xfrm>
            <a:off x="7592263" y="415467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1447" y="4122674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L'index inversé : valeur → ensemble de clés.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equals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ne sera plus qu'une lecture de map.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Quatre structures pour un seul fait — « la clé K vaut V ». C'est le prix d'une recherche rapide, payé à chaque écriture.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6 · LE TAMPON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L'opération entre dans la file d'attente du disque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4_rec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235913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En mode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-memory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il n'y a pas de stockage : la fonction ne fait rien et tout le reste du moteur est identique.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29019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Chaque opération reçoit un numéro qui ne recule jamais.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2870581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2838577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L'opération journalisée est autosuffisante : elle contient tout ce qu'il faut pour être rejouée seule.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60629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574288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L'expiration devient un entier — des nanosecondes depuis 1970 — parce que c'est ce qui s'écrit proprement en JSON.</a:t>
            </a:r>
          </a:p>
        </p:txBody>
      </p:sp>
      <p:sp>
        <p:nvSpPr>
          <p:cNvPr id="14" name="Oval 13"/>
          <p:cNvSpPr/>
          <p:nvPr/>
        </p:nvSpPr>
        <p:spPr>
          <a:xfrm>
            <a:off x="7592263" y="434200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1447" y="4309999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Elle est simplement ajoutée au tampon, et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peut retourner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OK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L'appelant n'a pas attendu le disque.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C'est la raison pour laquelle un arrêt brutal peut perdre les toutes dernières écritures. Le compromis est assumé, et documenté.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7 · LE FLUSH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Vider le tampon, ou ne rien perdre en essayant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5_flu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519212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552484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81668" y="1554480"/>
            <a:ext cx="4688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La version publique prend le verrou, la version privée suppose qu'il est déjà pris. Ce doublet se retrouve partout dans le moteur.</a:t>
            </a:r>
          </a:p>
        </p:txBody>
      </p:sp>
      <p:sp>
        <p:nvSpPr>
          <p:cNvPr id="8" name="Oval 7"/>
          <p:cNvSpPr/>
          <p:nvPr/>
        </p:nvSpPr>
        <p:spPr>
          <a:xfrm>
            <a:off x="6552484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81668" y="2290191"/>
            <a:ext cx="4688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Sans stockage, ou sans rien à écrire, il n'y a rien à faire.</a:t>
            </a:r>
          </a:p>
        </p:txBody>
      </p:sp>
      <p:sp>
        <p:nvSpPr>
          <p:cNvPr id="10" name="Oval 9"/>
          <p:cNvSpPr/>
          <p:nvPr/>
        </p:nvSpPr>
        <p:spPr>
          <a:xfrm>
            <a:off x="6552484" y="2870581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1668" y="2838577"/>
            <a:ext cx="4688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seule écriture pour tout le tampon, pas une écriture par opération.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552484" y="341896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1668" y="3386963"/>
            <a:ext cx="4688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F1E"/>
                </a:solidFill>
                <a:latin typeface="Arial"/>
              </a:rPr>
              <a:t>En cas d'échec, on retourne sans vider le tampon.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Les opérations restent en mémoire et seront réessayées au flush suivant.</a:t>
            </a:r>
          </a:p>
        </p:txBody>
      </p:sp>
      <p:sp>
        <p:nvSpPr>
          <p:cNvPr id="14" name="Oval 13"/>
          <p:cNvSpPr/>
          <p:nvPr/>
        </p:nvSpPr>
        <p:spPr>
          <a:xfrm>
            <a:off x="6552484" y="4154677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1668" y="4122674"/>
            <a:ext cx="468823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tampon n'est remis à zéro qu'après un succès confirmé.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Une tâche de fond appelle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Flush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toutes les secondes.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Close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en fait un dernier à l'arrêt, et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POST /api/flush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permet de le déclencher à la demande.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ÉTAPE 7 · LE DISQUE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Le contrat avec le système de fichiers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6_app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311046" cy="40416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344318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3502" y="1554480"/>
            <a:ext cx="489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Tout le JSON est fabriqué en mémoire d'abord, une ligne par opération. Si l'encodage échoue, le fichier n'a pas été touché.</a:t>
            </a:r>
          </a:p>
        </p:txBody>
      </p:sp>
      <p:sp>
        <p:nvSpPr>
          <p:cNvPr id="8" name="Oval 7"/>
          <p:cNvSpPr/>
          <p:nvPr/>
        </p:nvSpPr>
        <p:spPr>
          <a:xfrm>
            <a:off x="6344318" y="21198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3502" y="2087880"/>
            <a:ext cx="489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Ouverture en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ajout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: on n'écrase jamais ce qui est déjà écrit.</a:t>
            </a:r>
          </a:p>
        </p:txBody>
      </p:sp>
      <p:sp>
        <p:nvSpPr>
          <p:cNvPr id="10" name="Oval 9"/>
          <p:cNvSpPr/>
          <p:nvPr/>
        </p:nvSpPr>
        <p:spPr>
          <a:xfrm>
            <a:off x="6344318" y="25405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3502" y="2508504"/>
            <a:ext cx="489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On relève la taille du fichier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avant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d'écrire. C'est le point de retour.</a:t>
            </a:r>
          </a:p>
        </p:txBody>
      </p:sp>
      <p:sp>
        <p:nvSpPr>
          <p:cNvPr id="12" name="Oval 11"/>
          <p:cNvSpPr/>
          <p:nvPr/>
        </p:nvSpPr>
        <p:spPr>
          <a:xfrm>
            <a:off x="6344318" y="30739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3502" y="3041904"/>
            <a:ext cx="489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Write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puis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Sync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: c'est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Sync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qui force le système à poser réellement les octets sur le disque.</a:t>
            </a:r>
          </a:p>
        </p:txBody>
      </p:sp>
      <p:sp>
        <p:nvSpPr>
          <p:cNvPr id="14" name="Oval 13"/>
          <p:cNvSpPr/>
          <p:nvPr/>
        </p:nvSpPr>
        <p:spPr>
          <a:xfrm>
            <a:off x="6344318" y="36073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3502" y="3575303"/>
            <a:ext cx="489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Si quelque chose échoue, le fichier est retronqué à sa taille d'avant : le journal ne conserve jamais une ligne à moitié écrite.</a:t>
            </a:r>
          </a:p>
        </p:txBody>
      </p:sp>
      <p:sp>
        <p:nvSpPr>
          <p:cNvPr id="16" name="Oval 15"/>
          <p:cNvSpPr/>
          <p:nvPr/>
        </p:nvSpPr>
        <p:spPr>
          <a:xfrm>
            <a:off x="6344318" y="432054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3502" y="4288536"/>
            <a:ext cx="489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On synchronise aussi le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dossier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— sinon la création du fichier elle-même pourrait ne pas survivre à une coupure de courant.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C'est ici, et seulement ici, que « la donnée est enregistrée » devient vrai.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LA 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Une vraie session, copiée telle quelle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7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43726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GET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PING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ne produisent aucune opération : seules les écritures entrent dans le journal.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29019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GET WHERE value &gt;= 21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rend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age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ignore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etiquette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dont la valeur « 42 » est une chaîne. Même texte, type différent, résultat différent.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324523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3213226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À la fermeture, le moteur annonce cinq opérations écrites : quatre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un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DEL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7936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761612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Les cinq ont attendu dans le tampon ; aucune n'a fait patienter l'utilisateur.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LA PREUVE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Ce que le journal a retenu — data/aof.log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18_a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9095361" cy="13716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1792" y="314096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3108960"/>
            <a:ext cx="4916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Une ligne = une opération, au format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JSON Lines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. Le retour à la ligne final fait partie du contrat.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3674363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642359"/>
            <a:ext cx="4916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numéros de séquence se suivent. Un trou signalerait un journal corrompu, et le démarrage échouerait.</a:t>
            </a:r>
          </a:p>
        </p:txBody>
      </p:sp>
      <p:sp>
        <p:nvSpPr>
          <p:cNvPr id="10" name="Oval 9"/>
          <p:cNvSpPr/>
          <p:nvPr/>
        </p:nvSpPr>
        <p:spPr>
          <a:xfrm>
            <a:off x="621792" y="4207763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175760"/>
            <a:ext cx="4916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isNumber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sépare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age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de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etiquette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: la même valeur « 42 », écrite deux fois, avec deux types.</a:t>
            </a:r>
          </a:p>
        </p:txBody>
      </p:sp>
      <p:sp>
        <p:nvSpPr>
          <p:cNvPr id="12" name="Oval 11"/>
          <p:cNvSpPr/>
          <p:nvPr/>
        </p:nvSpPr>
        <p:spPr>
          <a:xfrm>
            <a:off x="6324447" y="314096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3631" y="3108960"/>
            <a:ext cx="4916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L'expiration est une date absolue en nanosecondes depuis 1970. Zéro signifie « jamais ».</a:t>
            </a:r>
          </a:p>
        </p:txBody>
      </p:sp>
      <p:sp>
        <p:nvSpPr>
          <p:cNvPr id="14" name="Oval 13"/>
          <p:cNvSpPr/>
          <p:nvPr/>
        </p:nvSpPr>
        <p:spPr>
          <a:xfrm>
            <a:off x="6324447" y="3674363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3631" y="3642359"/>
            <a:ext cx="49162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La suppression est une ligne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en plus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, pas une ligne en moins. Le journal ne se réécrit pas : il s'allonge, jusqu'au prochain snapshot.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Ce fichier se lit avec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cat</a:t>
            </a:r>
            <a:r>
              <a:rPr sz="1150" b="0" i="0">
                <a:solidFill>
                  <a:srgbClr val="196750"/>
                </a:solidFill>
                <a:latin typeface="Arial"/>
              </a:rPr>
              <a:t>. C'était un objectif : pouvoir vérifier à l'œil ce que le moteur a promis.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CFC2"/>
                </a:solidFill>
                <a:latin typeface="Arial"/>
              </a:rPr>
              <a:t>PARTIE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24912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Lire, chercher, oublier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13632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GET, DELETE, GET WHERE et l'expiration : le reste du vocabulaire du moteur.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C'est là que le choix de typer les valeurs se paie — et se justifie.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GET, et l'oubli paresseux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0_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4669051" cy="40416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70232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1507" y="1554480"/>
            <a:ext cx="55383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La lecture, c'est un accès à la map. Rien de plus.</a:t>
            </a:r>
          </a:p>
        </p:txBody>
      </p:sp>
      <p:sp>
        <p:nvSpPr>
          <p:cNvPr id="8" name="Oval 7"/>
          <p:cNvSpPr/>
          <p:nvPr/>
        </p:nvSpPr>
        <p:spPr>
          <a:xfrm>
            <a:off x="5702323" y="20071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1507" y="1975104"/>
            <a:ext cx="55383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clé peut être présente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périmée : le test d'expiration se fait au moment de la lecture.</a:t>
            </a:r>
          </a:p>
        </p:txBody>
      </p:sp>
      <p:sp>
        <p:nvSpPr>
          <p:cNvPr id="10" name="Oval 9"/>
          <p:cNvSpPr/>
          <p:nvPr/>
        </p:nvSpPr>
        <p:spPr>
          <a:xfrm>
            <a:off x="5702323" y="255549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1507" y="2523490"/>
            <a:ext cx="55383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Sauf si le moteur est fermé — on ne journalise plus rien après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Close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2" name="Oval 11"/>
          <p:cNvSpPr/>
          <p:nvPr/>
        </p:nvSpPr>
        <p:spPr>
          <a:xfrm>
            <a:off x="5702323" y="310388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1507" y="3071876"/>
            <a:ext cx="55383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Sinon la clé périmée est supprimée au passage : la lecture fait le ménage, index et journal compris.</a:t>
            </a:r>
          </a:p>
        </p:txBody>
      </p:sp>
      <p:sp>
        <p:nvSpPr>
          <p:cNvPr id="14" name="Oval 13"/>
          <p:cNvSpPr/>
          <p:nvPr/>
        </p:nvSpPr>
        <p:spPr>
          <a:xfrm>
            <a:off x="5702323" y="365226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1507" y="3620262"/>
            <a:ext cx="553839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date d'expiration nulle signifie « jamais ». À l'instant exact de l'expiration, la clé est déjà considérée comme périmée.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Conséquence : le moteur ne rend jamais une clé périmée, même si le balayage de fond n'est pas encore passé.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SUPPRIMER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DELETE, ou une ligne de plus dans le journal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1_dele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654118" cy="40416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687390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6574" y="1554480"/>
            <a:ext cx="4553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Après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Close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on refuse l'écriture plutôt que de la perdre en silence.</a:t>
            </a:r>
          </a:p>
        </p:txBody>
      </p:sp>
      <p:sp>
        <p:nvSpPr>
          <p:cNvPr id="8" name="Oval 7"/>
          <p:cNvSpPr/>
          <p:nvPr/>
        </p:nvSpPr>
        <p:spPr>
          <a:xfrm>
            <a:off x="6687390" y="213487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16574" y="2102866"/>
            <a:ext cx="4553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Delete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l'expiration passent par le même chemin :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remove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0" name="Oval 9"/>
          <p:cNvSpPr/>
          <p:nvPr/>
        </p:nvSpPr>
        <p:spPr>
          <a:xfrm>
            <a:off x="6687390" y="268325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16574" y="2651252"/>
            <a:ext cx="4553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L'index est nettoyé en premier, comme à l'écriture.</a:t>
            </a:r>
          </a:p>
        </p:txBody>
      </p:sp>
      <p:sp>
        <p:nvSpPr>
          <p:cNvPr id="12" name="Oval 11"/>
          <p:cNvSpPr/>
          <p:nvPr/>
        </p:nvSpPr>
        <p:spPr>
          <a:xfrm>
            <a:off x="6687390" y="310388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6574" y="3071876"/>
            <a:ext cx="4553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delete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sur une clé absente ne fait rien. Supprimer ce qui n'existe pas n'est pas une erreur.</a:t>
            </a:r>
          </a:p>
        </p:txBody>
      </p:sp>
      <p:sp>
        <p:nvSpPr>
          <p:cNvPr id="14" name="Oval 13"/>
          <p:cNvSpPr/>
          <p:nvPr/>
        </p:nvSpPr>
        <p:spPr>
          <a:xfrm>
            <a:off x="6687390" y="365226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6574" y="3620262"/>
            <a:ext cx="455332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La suppression est journalisée comme une opération à part entière, avec son propre numéro de séquence.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 journal ne rétrécit jamais lors d'un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DEL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: il s'allonge d'une ligne qui dit « oublie celle-ci ». Seul le snapshot fait maigrir le fichier.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CHERCHER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Quatre structures pour ne pas tout parcourir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7573"/>
                </a:solidFill>
                <a:latin typeface="Arial"/>
              </a:rPr>
              <a:t>Le problème : trouver toutes les clés dont la valeur dépasse 21, sans lire toutes les clés.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s22_index_ty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92224"/>
            <a:ext cx="5410947" cy="363042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6444219" y="182422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403" y="1792224"/>
            <a:ext cx="47964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value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retient son texte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son équivalent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float64</a:t>
            </a:r>
            <a:r>
              <a:rPr sz="1250" b="0" i="0">
                <a:solidFill>
                  <a:srgbClr val="6F7573"/>
                </a:solidFill>
                <a:latin typeface="Arial"/>
              </a:rPr>
              <a:t>, plus le drapeau qui dit lequel fait foi.</a:t>
            </a:r>
          </a:p>
        </p:txBody>
      </p:sp>
      <p:sp>
        <p:nvSpPr>
          <p:cNvPr id="9" name="Oval 8"/>
          <p:cNvSpPr/>
          <p:nvPr/>
        </p:nvSpPr>
        <p:spPr>
          <a:xfrm>
            <a:off x="6444219" y="237261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73403" y="2340610"/>
            <a:ext cx="47964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keys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un B-Tree ordonné des clés, pour les plages sur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key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6444219" y="279323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73403" y="2761234"/>
            <a:ext cx="47964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values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un B-Tree ordonné des valeurs, pour les plages sur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value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6444219" y="334162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73403" y="3309620"/>
            <a:ext cx="47964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entries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clé → valeur. Sert à retrouver l'ancienne valeur lors d'un remplacement.</a:t>
            </a:r>
          </a:p>
        </p:txBody>
      </p:sp>
      <p:sp>
        <p:nvSpPr>
          <p:cNvPr id="15" name="Oval 14"/>
          <p:cNvSpPr/>
          <p:nvPr/>
        </p:nvSpPr>
        <p:spPr>
          <a:xfrm>
            <a:off x="6444219" y="389001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73403" y="3858006"/>
            <a:ext cx="479649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inverted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valeur → ensemble des clés. C'est l'index inversé, et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equals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y lit directement.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 B-Tree vient de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github.com/google/btree</a:t>
            </a:r>
            <a:r>
              <a:rPr sz="1150" b="0" i="0">
                <a:solidFill>
                  <a:srgbClr val="196750"/>
                </a:solidFill>
                <a:latin typeface="Arial"/>
              </a:rPr>
              <a:t>. Écrire le nôtre aurait triplé la taille du paquet sans rien apprendre de plus sur le sujet du projet.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CHERCHER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equals et contains : les deux extrêmes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3_find_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340031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contains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n'a aucun index : il parcourt toutes les entrées, une par une.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1198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0878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Sur une valeur,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contains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ignore les nombres — chercher « 4 » dans 42 n'aurait pas de sens ici.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28331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280111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equals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, à l'inverse, est une simple lecture de l'index inversé. Son coût dépend du nombre de résultats, pas du nombre de clés.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54634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514344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Tous les chemins finissent triés par clé : le résultat est stable, alors que l'ordre de parcours d'une map en Go ne l'est pas.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Deux extrêmes dans la même fonction. Le coût de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contains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est assumé et écrit dans le README : indexer les sous-chaînes aurait coûté bien plus cher à chaque écriture.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CHERCHER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Les plages : descendre dans le B-Tree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4_find_r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083570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116842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46026" y="1554480"/>
            <a:ext cx="412387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visit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est appelé par l'arbre pour chaque valeur rencontrée, dans l'ordre.</a:t>
            </a:r>
          </a:p>
        </p:txBody>
      </p:sp>
      <p:sp>
        <p:nvSpPr>
          <p:cNvPr id="8" name="Oval 7"/>
          <p:cNvSpPr/>
          <p:nvPr/>
        </p:nvSpPr>
        <p:spPr>
          <a:xfrm>
            <a:off x="7116842" y="213487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6026" y="2102866"/>
            <a:ext cx="412387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F1E"/>
                </a:solidFill>
                <a:latin typeface="Arial"/>
              </a:rPr>
              <a:t>Dès qu'on change de type, on s'arrête.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Renvoyer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false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interrompt le parcours.</a:t>
            </a:r>
          </a:p>
        </p:txBody>
      </p:sp>
      <p:sp>
        <p:nvSpPr>
          <p:cNvPr id="10" name="Oval 9"/>
          <p:cNvSpPr/>
          <p:nvPr/>
        </p:nvSpPr>
        <p:spPr>
          <a:xfrm>
            <a:off x="7116842" y="268325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6026" y="2651252"/>
            <a:ext cx="412387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Sur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&gt;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et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&lt;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stricts, la borne elle-même est visitée mais pas retenue.</a:t>
            </a:r>
          </a:p>
        </p:txBody>
      </p:sp>
      <p:sp>
        <p:nvSpPr>
          <p:cNvPr id="12" name="Oval 11"/>
          <p:cNvSpPr/>
          <p:nvPr/>
        </p:nvSpPr>
        <p:spPr>
          <a:xfrm>
            <a:off x="7116842" y="323164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6026" y="3199638"/>
            <a:ext cx="412387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Pour chaque valeur retenue, on récupère d'un coup toutes ses clés dans l'index inversé.</a:t>
            </a:r>
          </a:p>
        </p:txBody>
      </p:sp>
      <p:sp>
        <p:nvSpPr>
          <p:cNvPr id="14" name="Oval 13"/>
          <p:cNvSpPr/>
          <p:nvPr/>
        </p:nvSpPr>
        <p:spPr>
          <a:xfrm>
            <a:off x="7116842" y="378002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6026" y="3748024"/>
            <a:ext cx="412387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L'arbre se positionne sur la borne et remonte en ordre croissant, sans jamais regarder ce qui est en dessous.</a:t>
            </a:r>
          </a:p>
        </p:txBody>
      </p:sp>
      <p:sp>
        <p:nvSpPr>
          <p:cNvPr id="16" name="Oval 15"/>
          <p:cNvSpPr/>
          <p:nvPr/>
        </p:nvSpPr>
        <p:spPr>
          <a:xfrm>
            <a:off x="7116842" y="4515739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6026" y="4483735"/>
            <a:ext cx="412387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Et symétriquement pour les bornes inférieures.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Sans l'arbre, il faudrait comparer les 100 000 valeurs pour en trouver trois. Avec lui, on entre à la bonne place et on s'arrête dès que la condition tombe.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LA DÉCISION STRUCTURANTE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Nombres et chaînes ne se mélangent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5_l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3206823" cy="1874519"/>
          </a:xfrm>
          <a:prstGeom prst="rect">
            <a:avLst/>
          </a:prstGeom>
        </p:spPr>
      </p:pic>
      <p:pic>
        <p:nvPicPr>
          <p:cNvPr id="6" name="Picture 5" descr="s25_tr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11880"/>
            <a:ext cx="6126480" cy="1233125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159752" y="16139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8936" y="1581912"/>
            <a:ext cx="4080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Deux valeurs de types différents ne se comparent pas sur leur contenu.</a:t>
            </a:r>
          </a:p>
        </p:txBody>
      </p:sp>
      <p:sp>
        <p:nvSpPr>
          <p:cNvPr id="9" name="Oval 8"/>
          <p:cNvSpPr/>
          <p:nvPr/>
        </p:nvSpPr>
        <p:spPr>
          <a:xfrm>
            <a:off x="7159752" y="216230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8936" y="2130298"/>
            <a:ext cx="4080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Elles sont rangées en deux blocs : toutes les chaînes d'un côté, tous les nombres de l'autre.</a:t>
            </a:r>
          </a:p>
        </p:txBody>
      </p:sp>
      <p:sp>
        <p:nvSpPr>
          <p:cNvPr id="11" name="Oval 10"/>
          <p:cNvSpPr/>
          <p:nvPr/>
        </p:nvSpPr>
        <p:spPr>
          <a:xfrm>
            <a:off x="7159752" y="271068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8936" y="2678684"/>
            <a:ext cx="4080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Entre nombres, on compare des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float64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7159752" y="313131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8936" y="3099308"/>
            <a:ext cx="40809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Entre chaînes, l'ordre lexicographique.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C'est la question que pose toujours un jury : « et si je stocke 42 et "42" ? » Réponse : deux valeurs distinctes, dans deux moitiés distinctes de l'arbre, et une recherche numérique ne verra jamais la seconde.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OUBLIER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TTL : deux chemins mènent à l'oubli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6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3990815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5024087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53271" y="1554480"/>
            <a:ext cx="6216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Après fermeture, le balayage ne fait plus rien : personne ne pourrait plus écrire son résultat.</a:t>
            </a:r>
          </a:p>
        </p:txBody>
      </p:sp>
      <p:sp>
        <p:nvSpPr>
          <p:cNvPr id="8" name="Oval 7"/>
          <p:cNvSpPr/>
          <p:nvPr/>
        </p:nvSpPr>
        <p:spPr>
          <a:xfrm>
            <a:off x="5024087" y="213487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3271" y="2102866"/>
            <a:ext cx="6216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L'heure est relevée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une seule fois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pour tout le balayage — deux clés qui expirent en même temps disparaissent ensemble.</a:t>
            </a:r>
          </a:p>
        </p:txBody>
      </p:sp>
      <p:sp>
        <p:nvSpPr>
          <p:cNvPr id="10" name="Oval 9"/>
          <p:cNvSpPr/>
          <p:nvPr/>
        </p:nvSpPr>
        <p:spPr>
          <a:xfrm>
            <a:off x="5024087" y="268325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53271" y="2651252"/>
            <a:ext cx="6216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balayage est complet : toutes les clés, à chaque passage. Simple, et suffisant à cette échelle.</a:t>
            </a:r>
          </a:p>
        </p:txBody>
      </p:sp>
      <p:sp>
        <p:nvSpPr>
          <p:cNvPr id="12" name="Oval 11"/>
          <p:cNvSpPr/>
          <p:nvPr/>
        </p:nvSpPr>
        <p:spPr>
          <a:xfrm>
            <a:off x="5024087" y="323164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3271" y="3199638"/>
            <a:ext cx="621663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même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remove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que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DEL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index nettoyé et suppression journalisée.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La lecture garantit la justesse — elle ne rend jamais une clé périmée. Le balayage, lui, libère la mémoire des clés que personne ne lit plus. Toutes les dix secondes par défaut.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CFC2"/>
                </a:solidFill>
                <a:latin typeface="Arial"/>
              </a:rPr>
              <a:t>PARTIE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24912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Survivre à un redémarrage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13632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Un journal qui s'allonge, un snapshot qui le remplace, et une reprise qui recolle les deux.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Toute la difficulté tient dans un mot : que se passe-t-il si le courant coupe ici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COMPACTER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Le snapshot, puis le journal — jamais l'inverse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8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529941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56321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2397" y="1554480"/>
            <a:ext cx="467750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On commence par vider le tampon : le snapshot doit refléter tout ce qui a déjà été accepté.</a:t>
            </a:r>
          </a:p>
        </p:txBody>
      </p:sp>
      <p:sp>
        <p:nvSpPr>
          <p:cNvPr id="8" name="Oval 7"/>
          <p:cNvSpPr/>
          <p:nvPr/>
        </p:nvSpPr>
        <p:spPr>
          <a:xfrm>
            <a:off x="6563213" y="21198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92397" y="2087880"/>
            <a:ext cx="467750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snapshot retient le numéro de séquence atteint. C'est lui qui dira, au redémarrage, quelles lignes du journal sont déjà couvertes.</a:t>
            </a:r>
          </a:p>
        </p:txBody>
      </p:sp>
      <p:sp>
        <p:nvSpPr>
          <p:cNvPr id="10" name="Oval 9"/>
          <p:cNvSpPr/>
          <p:nvPr/>
        </p:nvSpPr>
        <p:spPr>
          <a:xfrm>
            <a:off x="6563213" y="28331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92397" y="2801111"/>
            <a:ext cx="467750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clés périmées ne sont pas recopiées : le snapshot fait aussi le ménage.</a:t>
            </a:r>
          </a:p>
        </p:txBody>
      </p:sp>
      <p:sp>
        <p:nvSpPr>
          <p:cNvPr id="12" name="Oval 11"/>
          <p:cNvSpPr/>
          <p:nvPr/>
        </p:nvSpPr>
        <p:spPr>
          <a:xfrm>
            <a:off x="6563213" y="336651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2397" y="3334511"/>
            <a:ext cx="467750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fichier est écrit — de façon atomique, on y vient.</a:t>
            </a:r>
          </a:p>
        </p:txBody>
      </p:sp>
      <p:sp>
        <p:nvSpPr>
          <p:cNvPr id="14" name="Oval 13"/>
          <p:cNvSpPr/>
          <p:nvPr/>
        </p:nvSpPr>
        <p:spPr>
          <a:xfrm>
            <a:off x="6563213" y="3787139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92397" y="3755136"/>
            <a:ext cx="467750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F1E"/>
                </a:solidFill>
                <a:latin typeface="Arial"/>
              </a:rPr>
              <a:t>Et seulement ensuite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le journal est vidé.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Si le programme meurt entre l'étape 4 et l'étape 5, le journal contient des lignes déjà couvertes par le snapshot. Les numéros de séquence les rendent inoffensives.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ÉCRIRE SANS CASSER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Fichier temporaire, synchronisation, renommage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29_atom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168008" cy="404164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01280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0464" y="1554480"/>
            <a:ext cx="50394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On écrit dans un fichier temporaire placé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à côté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de la cible — même dossier, donc même système de fichiers.</a:t>
            </a:r>
          </a:p>
        </p:txBody>
      </p:sp>
      <p:sp>
        <p:nvSpPr>
          <p:cNvPr id="8" name="Oval 7"/>
          <p:cNvSpPr/>
          <p:nvPr/>
        </p:nvSpPr>
        <p:spPr>
          <a:xfrm>
            <a:off x="6201280" y="21198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0464" y="2087880"/>
            <a:ext cx="50394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Si quoi que ce soit échoue ensuite, le temporaire est effacé et le fichier visé n'aura jamais été touché.</a:t>
            </a:r>
          </a:p>
        </p:txBody>
      </p:sp>
      <p:sp>
        <p:nvSpPr>
          <p:cNvPr id="10" name="Oval 9"/>
          <p:cNvSpPr/>
          <p:nvPr/>
        </p:nvSpPr>
        <p:spPr>
          <a:xfrm>
            <a:off x="6201280" y="26532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0464" y="2621280"/>
            <a:ext cx="50394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Écriture puis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Sync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: les octets sont réellement sur le disque avant qu'on aille plus loin.</a:t>
            </a:r>
          </a:p>
        </p:txBody>
      </p:sp>
      <p:sp>
        <p:nvSpPr>
          <p:cNvPr id="12" name="Oval 11"/>
          <p:cNvSpPr/>
          <p:nvPr/>
        </p:nvSpPr>
        <p:spPr>
          <a:xfrm>
            <a:off x="6201280" y="31866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464" y="3154679"/>
            <a:ext cx="50394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errors.Join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conserve les deux erreurs possibles, celle de l'écriture et celle de la fermeture.</a:t>
            </a:r>
          </a:p>
        </p:txBody>
      </p:sp>
      <p:sp>
        <p:nvSpPr>
          <p:cNvPr id="14" name="Oval 13"/>
          <p:cNvSpPr/>
          <p:nvPr/>
        </p:nvSpPr>
        <p:spPr>
          <a:xfrm>
            <a:off x="6201280" y="3720083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464" y="3688080"/>
            <a:ext cx="50394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Rename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sur un même système de fichiers est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atomique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: à tout instant, la cible est soit l'ancien fichier entier, soit le nouveau entier.</a:t>
            </a:r>
          </a:p>
        </p:txBody>
      </p:sp>
      <p:sp>
        <p:nvSpPr>
          <p:cNvPr id="16" name="Oval 15"/>
          <p:cNvSpPr/>
          <p:nvPr/>
        </p:nvSpPr>
        <p:spPr>
          <a:xfrm>
            <a:off x="6201280" y="443331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0464" y="4401312"/>
            <a:ext cx="503943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On synchronise aussi le dossier, pour que le renommage lui-même survive à une coupure.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Jamais de fichier à moitié écrit. C'est ce qui autorise à couper le courant pendant un snapshot sans perdre le précédent.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REPRENDRE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Le redémarrage : snapshot d'abord, journal ensuite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30_r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355279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388551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17735" y="1554480"/>
            <a:ext cx="4852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snapshot est déjà chargé. On rejoue maintenant le journal par-dessus.</a:t>
            </a:r>
          </a:p>
        </p:txBody>
      </p:sp>
      <p:sp>
        <p:nvSpPr>
          <p:cNvPr id="8" name="Oval 7"/>
          <p:cNvSpPr/>
          <p:nvPr/>
        </p:nvSpPr>
        <p:spPr>
          <a:xfrm>
            <a:off x="6388551" y="213487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17735" y="2102866"/>
            <a:ext cx="4852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Les lignes déjà couvertes par le snapshot sont ignorées : c'est le filet de sécurité d'une compaction interrompue.</a:t>
            </a:r>
          </a:p>
        </p:txBody>
      </p:sp>
      <p:sp>
        <p:nvSpPr>
          <p:cNvPr id="10" name="Oval 9"/>
          <p:cNvSpPr/>
          <p:nvPr/>
        </p:nvSpPr>
        <p:spPr>
          <a:xfrm>
            <a:off x="6388551" y="268325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17735" y="2651252"/>
            <a:ext cx="4852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 trou dans la numérotation arrête le démarrage. Mieux vaut refuser d'ouvrir que servir des données incomplètes.</a:t>
            </a:r>
          </a:p>
        </p:txBody>
      </p:sp>
      <p:sp>
        <p:nvSpPr>
          <p:cNvPr id="12" name="Oval 11"/>
          <p:cNvSpPr/>
          <p:nvPr/>
        </p:nvSpPr>
        <p:spPr>
          <a:xfrm>
            <a:off x="6388551" y="3231642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7735" y="3199638"/>
            <a:ext cx="4852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applyOp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refait l'opération : un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réécrit, un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DELETE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efface.</a:t>
            </a:r>
          </a:p>
        </p:txBody>
      </p:sp>
      <p:sp>
        <p:nvSpPr>
          <p:cNvPr id="14" name="Oval 13"/>
          <p:cNvSpPr/>
          <p:nvPr/>
        </p:nvSpPr>
        <p:spPr>
          <a:xfrm>
            <a:off x="6388551" y="378002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7735" y="3748024"/>
            <a:ext cx="48521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Et le compteur avance, pour que la prochaine écriture reprenne la suite.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Après le rejeu, les clés périmées sont éliminées et les index reconstruits de zéro. Ils ne sont jamais persistés : les recalculer est plus simple, et plus sûr, que les stocker.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DISTINGUER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Une écriture interrompue n'est pas une corruption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31_reada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293454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On ne lit que jusqu'au </a:t>
            </a:r>
            <a:r>
              <a:rPr sz="1250" b="1" i="0">
                <a:solidFill>
                  <a:srgbClr val="1A1F1E"/>
                </a:solidFill>
                <a:latin typeface="Arial"/>
              </a:rPr>
              <a:t>dernier retour à la ligne</a:t>
            </a:r>
            <a:r>
              <a:rPr sz="1250" b="0" i="0">
                <a:solidFill>
                  <a:srgbClr val="6F7573"/>
                </a:solidFill>
                <a:latin typeface="Arial"/>
              </a:rPr>
              <a:t>. Ce qui suit est une écriture coupée en vol : elle est ignorée, puis retirée du fichier.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50952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477516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Chaque ligne complète est une opération.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293014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289814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ligne complète mais illisible, elle, est une vraie corruption. Le démarrage échoue en nommant la ligne fautive.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La différence est nette : une ligne tronquée est un accident normal de la coupure de courant ; un octet modifié au milieu d'une ligne complète ne l'est pas.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LA QUESTION DU JURY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Et si ça coupe ici 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54480"/>
            <a:ext cx="3466886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CE QUI ARRIVE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16694" y="1554480"/>
            <a:ext cx="7225193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CE QUI SE PASSE ALORS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0512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346688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Coupure pendant un flush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6694" y="1901952"/>
            <a:ext cx="722519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La dernière ligne, incomplète, est retirée au redémarrage. Les précédentes sont intactes.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43687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496312"/>
            <a:ext cx="346688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Coupure pendant un snapshot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16694" y="2496312"/>
            <a:ext cx="722519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fichier temporaire est abandonné. L'ancien snapshot et le journal restent valides.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03123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090672"/>
            <a:ext cx="346688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Coupure entre le snapshot et le vidage du journal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16694" y="3090672"/>
            <a:ext cx="722519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journal contient des lignes déjà couvertes : les numéros de séquence les font ignorer.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62559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685032"/>
            <a:ext cx="346688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Octet corrompu dans une ligne complète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6694" y="3685032"/>
            <a:ext cx="722519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démarrage échoue et nomme la ligne. Pas de démarrage silencieux sur des données fausses.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21995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279392"/>
            <a:ext cx="346688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Arrêt brutal (kill -9, coupure)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16694" y="4279392"/>
            <a:ext cx="722519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opérations encore dans le tampon sont perdues. C'est la limite assumée du tampon d'une seconde.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481431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873752"/>
            <a:ext cx="3466886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A1F1E"/>
                </a:solidFill>
                <a:latin typeface="Arial"/>
              </a:rPr>
              <a:t>Deux processus sur les mêmes fichiers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16694" y="4873752"/>
            <a:ext cx="722519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second refuse de démarrer : LockFiles pose un verrou flock sur le journal et le snapshot.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5408676"/>
            <a:ext cx="10948111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Un arrêt propre — Ctrl-C, SIGTERM — passe par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Engine.Close()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qui fait un dernier flush et journalise le nombre d'opérations écrites. Rien n'est perdu.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331720"/>
            <a:ext cx="9418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9CFC2"/>
                </a:solidFill>
                <a:latin typeface="Arial"/>
              </a:rPr>
              <a:t>PARTIE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24912"/>
            <a:ext cx="9418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Autour du moteur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13632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Le cycle de vie du programme, l'API HTTP, le tableau de bord et les vérifications.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CDE3DA"/>
                </a:solidFill>
                <a:latin typeface="Arial"/>
              </a:rPr>
              <a:t>Ce qui transforme un paquet Go en quelque chose qu'on peut lancer et montrer.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LE CYCLE DE VIE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Démarrer, écouter les signaux, s'arrêter proprement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33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700455" cy="3868165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33727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2911" y="1554480"/>
            <a:ext cx="4506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programme s'abonne à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Ctrl-C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et à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SIGTERM</a:t>
            </a:r>
            <a:r>
              <a:rPr sz="1200" b="0" i="0">
                <a:solidFill>
                  <a:srgbClr val="6F7573"/>
                </a:solidFill>
                <a:latin typeface="Arial"/>
              </a:rPr>
              <a:t>.</a:t>
            </a:r>
          </a:p>
        </p:txBody>
      </p:sp>
      <p:sp>
        <p:nvSpPr>
          <p:cNvPr id="8" name="Oval 7"/>
          <p:cNvSpPr/>
          <p:nvPr/>
        </p:nvSpPr>
        <p:spPr>
          <a:xfrm>
            <a:off x="6733727" y="20071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2911" y="1975104"/>
            <a:ext cx="4506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context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annulable sert de signal d'arrêt unique pour tout le programme.</a:t>
            </a:r>
          </a:p>
        </p:txBody>
      </p:sp>
      <p:sp>
        <p:nvSpPr>
          <p:cNvPr id="10" name="Oval 9"/>
          <p:cNvSpPr/>
          <p:nvPr/>
        </p:nvSpPr>
        <p:spPr>
          <a:xfrm>
            <a:off x="6733727" y="25405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62911" y="2508504"/>
            <a:ext cx="4506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Une goroutine attend le signal et annule le contexte. Un message explique ce qui va se passer.</a:t>
            </a:r>
          </a:p>
        </p:txBody>
      </p:sp>
      <p:sp>
        <p:nvSpPr>
          <p:cNvPr id="12" name="Oval 11"/>
          <p:cNvSpPr/>
          <p:nvPr/>
        </p:nvSpPr>
        <p:spPr>
          <a:xfrm>
            <a:off x="6733727" y="307390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62911" y="3041904"/>
            <a:ext cx="4506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tâches de fond — flush, snapshot, expiration — tournent dans leur propre goroutine et remontent leurs erreurs par un canal.</a:t>
            </a:r>
          </a:p>
        </p:txBody>
      </p:sp>
      <p:sp>
        <p:nvSpPr>
          <p:cNvPr id="14" name="Oval 13"/>
          <p:cNvSpPr/>
          <p:nvPr/>
        </p:nvSpPr>
        <p:spPr>
          <a:xfrm>
            <a:off x="6733727" y="378714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62911" y="3755136"/>
            <a:ext cx="4506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À la sortie, on annule d'abord, pour que les tâches de fond s'arrêtent.</a:t>
            </a:r>
          </a:p>
        </p:txBody>
      </p:sp>
      <p:sp>
        <p:nvSpPr>
          <p:cNvPr id="16" name="Oval 15"/>
          <p:cNvSpPr/>
          <p:nvPr/>
        </p:nvSpPr>
        <p:spPr>
          <a:xfrm>
            <a:off x="6733727" y="4320540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62911" y="4288536"/>
            <a:ext cx="45069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Puis on attend leur erreur éventuelle et on la joint au résultat. Les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defer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ferment ensuite le moteur, puis libèrent les verrous.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L'ordre de l'arrêt est le contraire de celui du démarrage : tâches de fond, puis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Engine.Close()</a:t>
            </a:r>
            <a:r>
              <a:rPr sz="1150" b="0" i="0">
                <a:solidFill>
                  <a:srgbClr val="196750"/>
                </a:solidFill>
                <a:latin typeface="Arial"/>
              </a:rPr>
              <a:t> qui écrit le tampon, puis les verrous de fichiers.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LA CONCURRENCE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Un seul verrou, et ce qu'il coûte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554480"/>
            <a:ext cx="5272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54480"/>
            <a:ext cx="32004" cy="2212848"/>
          </a:xfrm>
          <a:prstGeom prst="rect">
            <a:avLst/>
          </a:prstGeom>
          <a:solidFill>
            <a:srgbClr val="42AD8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Ce qu'on y gagne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5109"/>
            <a:ext cx="4870551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Aucune lecture ne peut voir un état à moitié écrit.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Les index et les données sont toujours d'accord entre eux.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 raisonnement tient en une phrase : une opération à la fois.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5272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7015" y="1554480"/>
            <a:ext cx="32004" cy="2212848"/>
          </a:xfrm>
          <a:prstGeom prst="rect">
            <a:avLst/>
          </a:prstGeom>
          <a:solidFill>
            <a:srgbClr val="D5A44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471" y="1737360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Ce qu'on y paie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71" y="2015109"/>
            <a:ext cx="4870551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Deux lectures ne se font pas en parallèle.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Un balayage d'expiration bloque les écritures le temps du passage.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La montée en charge s'arrête au débit d'un seul cœur.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995928"/>
            <a:ext cx="5272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" y="3995928"/>
            <a:ext cx="32004" cy="2212848"/>
          </a:xfrm>
          <a:prstGeom prst="rect">
            <a:avLst/>
          </a:prstGeom>
          <a:solidFill>
            <a:srgbClr val="649A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178808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Ce qui est vérifié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4456557"/>
            <a:ext cx="4870551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196750"/>
                </a:solidFill>
                <a:latin typeface="Consolas"/>
              </a:rPr>
              <a:t>go test -race ./...</a:t>
            </a:r>
            <a:r>
              <a:rPr sz="1150" b="0" i="0">
                <a:solidFill>
                  <a:srgbClr val="6F7573"/>
                </a:solidFill>
                <a:latin typeface="Arial"/>
              </a:rPr>
              <a:t> couvre les accès concurrents et les tâches de fond.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Les tests injectent une horloge et un stockage qui simule les pannes disque.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 tampon, l'état et les index sont observés depuis l'intérieur du paquet.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97015" y="3995928"/>
            <a:ext cx="5272887" cy="221284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7015" y="3995928"/>
            <a:ext cx="32004" cy="2212848"/>
          </a:xfrm>
          <a:prstGeom prst="rect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6471" y="4178808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Ce qu'on ferait ensuite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6471" y="4456557"/>
            <a:ext cx="4870551" cy="1664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Un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sync.RWMutex</a:t>
            </a:r>
            <a:r>
              <a:rPr sz="1150" b="0" i="0">
                <a:solidFill>
                  <a:srgbClr val="6F7573"/>
                </a:solidFill>
                <a:latin typeface="Arial"/>
              </a:rPr>
              <a:t> laisserait les lectures passer ensemble.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Un découpage de la map en tranches réduirait la contention.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Aucun des deux n'était nécessaire au périmètre demandé.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L'API HTTP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Une route, et le même moteur que le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35_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6558991" cy="25996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592263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1447" y="155448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Depuis Go 1.22, la méthode fait partie du motif de route : pas de routeur externe à installer.</a:t>
            </a:r>
          </a:p>
        </p:txBody>
      </p:sp>
      <p:sp>
        <p:nvSpPr>
          <p:cNvPr id="8" name="Oval 7"/>
          <p:cNvSpPr/>
          <p:nvPr/>
        </p:nvSpPr>
        <p:spPr>
          <a:xfrm>
            <a:off x="7592263" y="232219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1447" y="229019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75" b="0" i="0">
                <a:solidFill>
                  <a:srgbClr val="196750"/>
                </a:solidFill>
                <a:latin typeface="Consolas"/>
              </a:rPr>
              <a:t>read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refuse les corps de plus de 16 Kio, les champs inconnus et le JSON en trop après l'objet.</a:t>
            </a:r>
          </a:p>
        </p:txBody>
      </p:sp>
      <p:sp>
        <p:nvSpPr>
          <p:cNvPr id="10" name="Oval 9"/>
          <p:cNvSpPr/>
          <p:nvPr/>
        </p:nvSpPr>
        <p:spPr>
          <a:xfrm>
            <a:off x="7592263" y="305790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1447" y="3025902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serveur ne réimplémente rien : il passe la chaîne au même </a:t>
            </a:r>
            <a:r>
              <a:rPr sz="1175" b="0" i="0">
                <a:solidFill>
                  <a:srgbClr val="196750"/>
                </a:solidFill>
                <a:latin typeface="Consolas"/>
              </a:rPr>
              <a:t>ExecuteString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que le terminal interactif.</a:t>
            </a:r>
          </a:p>
        </p:txBody>
      </p:sp>
      <p:sp>
        <p:nvSpPr>
          <p:cNvPr id="12" name="Oval 11"/>
          <p:cNvSpPr/>
          <p:nvPr/>
        </p:nvSpPr>
        <p:spPr>
          <a:xfrm>
            <a:off x="7592263" y="37936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1447" y="3761613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Une commande invalide est une faute du client : 400, pas 500. Un échec d'écriture disque, lui, donne bien 500.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Routes :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POST /api/command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POST /api/batch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POST /api/flush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</a:t>
            </a:r>
            <a:r>
              <a:rPr sz="1080" b="0" i="0">
                <a:solidFill>
                  <a:srgbClr val="196750"/>
                </a:solidFill>
                <a:latin typeface="Consolas"/>
              </a:rPr>
              <a:t>POST /api/snapshot</a:t>
            </a:r>
            <a:r>
              <a:rPr sz="1150" b="0" i="0">
                <a:solidFill>
                  <a:srgbClr val="196750"/>
                </a:solidFill>
                <a:latin typeface="Arial"/>
              </a:rPr>
              <a:t>, plus les six routes des files de tâches. Le reste sert le tableau de bord compilé.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LE 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Le batch n'est pas une transaction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7573"/>
                </a:solidFill>
                <a:latin typeface="Arial"/>
              </a:rPr>
              <a:t>Envoyer cent commandes en une requête, sans prétendre qu'elles forment un tout indivisible.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s36_b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92224"/>
            <a:ext cx="6558991" cy="360651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592263" y="1824228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1447" y="1792224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Le tableau des résultats a exactement la taille du tableau des commandes.</a:t>
            </a:r>
          </a:p>
        </p:txBody>
      </p:sp>
      <p:sp>
        <p:nvSpPr>
          <p:cNvPr id="9" name="Oval 8"/>
          <p:cNvSpPr/>
          <p:nvPr/>
        </p:nvSpPr>
        <p:spPr>
          <a:xfrm>
            <a:off x="7592263" y="237261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1447" y="2340610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1F1E"/>
                </a:solidFill>
                <a:latin typeface="Arial"/>
              </a:rPr>
              <a:t>Une erreur n'interrompt pas les suivantes</a:t>
            </a:r>
            <a:r>
              <a:rPr sz="1250" b="0" i="0">
                <a:solidFill>
                  <a:srgbClr val="6F7573"/>
                </a:solidFill>
                <a:latin typeface="Arial"/>
              </a:rPr>
              <a:t> : chaque commande a son propre résultat, à sa propre place.</a:t>
            </a:r>
          </a:p>
        </p:txBody>
      </p:sp>
      <p:sp>
        <p:nvSpPr>
          <p:cNvPr id="11" name="Oval 10"/>
          <p:cNvSpPr/>
          <p:nvPr/>
        </p:nvSpPr>
        <p:spPr>
          <a:xfrm>
            <a:off x="7592263" y="310832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1447" y="3076321"/>
            <a:ext cx="364845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La variante qui prend des chaînes fait le même travail, en passant d'abord par le parser.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Ce n'est pas une transaction : un autre client peut écrire entre deux commandes du lot, et rien n'est annulé en cas d'erreur. La limite est de 1 000 commandes et 16 Kio par requête.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LE TABLEAU DE BORD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Des files de tâches, pour montrer le moteur à l'œuvre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33856"/>
            <a:ext cx="1094811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7573"/>
                </a:solidFill>
                <a:latin typeface="Arial"/>
              </a:rPr>
              <a:t>Files FIFO, quatre statuts, transitions manuelles — et rien qui exécute le contenu des tâches.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481328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ui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92224"/>
            <a:ext cx="6597061" cy="39776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21792" y="1792224"/>
            <a:ext cx="6597061" cy="3977639"/>
          </a:xfrm>
          <a:prstGeom prst="rect">
            <a:avLst/>
          </a:prstGeom>
          <a:noFill/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27263" y="1906524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55863" y="1810512"/>
            <a:ext cx="3331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Une file, c'est une liste de tâches </a:t>
            </a:r>
            <a:r>
              <a:rPr sz="1200" b="1" i="0">
                <a:solidFill>
                  <a:srgbClr val="1A1F1E"/>
                </a:solidFill>
                <a:latin typeface="Arial"/>
              </a:rPr>
              <a:t>et quatre compteurs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tenus à jour à chaque transition : </a:t>
            </a:r>
            <a:r>
              <a:rPr sz="1128" b="0" i="0">
                <a:solidFill>
                  <a:srgbClr val="196750"/>
                </a:solidFill>
                <a:latin typeface="Consolas"/>
              </a:rPr>
              <a:t>List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ne parcourt plus jamais les tâches.</a:t>
            </a:r>
          </a:p>
        </p:txBody>
      </p:sp>
      <p:sp>
        <p:nvSpPr>
          <p:cNvPr id="10" name="Oval 9"/>
          <p:cNvSpPr/>
          <p:nvPr/>
        </p:nvSpPr>
        <p:spPr>
          <a:xfrm>
            <a:off x="7827263" y="2775204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5863" y="2679192"/>
            <a:ext cx="3331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transitions autorisées tiennent en une condition : en attente → en cours → terminée ou en erreur, et en erreur → en attente.</a:t>
            </a:r>
          </a:p>
        </p:txBody>
      </p:sp>
      <p:sp>
        <p:nvSpPr>
          <p:cNvPr id="12" name="Oval 11"/>
          <p:cNvSpPr/>
          <p:nvPr/>
        </p:nvSpPr>
        <p:spPr>
          <a:xfrm>
            <a:off x="7827263" y="3461004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5863" y="3364992"/>
            <a:ext cx="3331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filtrage passe par la liste déroulante ; les compteurs sous le titre sont informatifs.</a:t>
            </a:r>
          </a:p>
        </p:txBody>
      </p:sp>
      <p:sp>
        <p:nvSpPr>
          <p:cNvPr id="14" name="Oval 13"/>
          <p:cNvSpPr/>
          <p:nvPr/>
        </p:nvSpPr>
        <p:spPr>
          <a:xfrm>
            <a:off x="7827263" y="4146804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55863" y="4050792"/>
            <a:ext cx="3331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L'interface interroge l'API toutes les deux secondes, en annulant proprement la requête précédente.</a:t>
            </a:r>
          </a:p>
        </p:txBody>
      </p:sp>
      <p:sp>
        <p:nvSpPr>
          <p:cNvPr id="16" name="Oval 15"/>
          <p:cNvSpPr/>
          <p:nvPr/>
        </p:nvSpPr>
        <p:spPr>
          <a:xfrm>
            <a:off x="7827263" y="4832604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5863" y="4736592"/>
            <a:ext cx="33311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-demo-tasks N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fixe le nombre de tâches par file — trois files de mille par défaut.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Rappel : ces files vivent en mémoire et disparaissent à l'arrêt du serveur. Le magasin clé-valeur, lui, est sur le disque.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LE DÉFILEMENT VIRTUEL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Afficher mille lignes sans en construire mille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s38_virt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54480"/>
            <a:ext cx="5195633" cy="301752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28231" y="15864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57416" y="1554480"/>
            <a:ext cx="4812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Au-delà d'environ 33 millions de pixels, un navigateur cesse de gérer la hauteur d'un élément. On plafonne en dessous.</a:t>
            </a:r>
          </a:p>
        </p:txBody>
      </p:sp>
      <p:sp>
        <p:nvSpPr>
          <p:cNvPr id="8" name="Oval 7"/>
          <p:cNvSpPr/>
          <p:nvPr/>
        </p:nvSpPr>
        <p:spPr>
          <a:xfrm>
            <a:off x="6428231" y="21198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7416" y="2087880"/>
            <a:ext cx="4812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Sous ce plafond, la hauteur totale est exacte : une ligne vaut 56 pixels, et le placement est au pixel près.</a:t>
            </a:r>
          </a:p>
        </p:txBody>
      </p:sp>
      <p:sp>
        <p:nvSpPr>
          <p:cNvPr id="10" name="Oval 9"/>
          <p:cNvSpPr/>
          <p:nvPr/>
        </p:nvSpPr>
        <p:spPr>
          <a:xfrm>
            <a:off x="6428231" y="2653284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7416" y="2621280"/>
            <a:ext cx="4812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Au-dessus, la ligne du haut se déduit d'un simple rapport. Le défilement devient plus rapide qu'une ligne par ligne : c'est le compromis assumé.</a:t>
            </a:r>
          </a:p>
        </p:txBody>
      </p:sp>
      <p:sp>
        <p:nvSpPr>
          <p:cNvPr id="12" name="Oval 11"/>
          <p:cNvSpPr/>
          <p:nvPr/>
        </p:nvSpPr>
        <p:spPr>
          <a:xfrm>
            <a:off x="6428231" y="3366516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7416" y="3334512"/>
            <a:ext cx="4812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On ne construit que la fenêtre visible, plus quatre lignes de marge de chaque côté.</a:t>
            </a:r>
          </a:p>
        </p:txBody>
      </p:sp>
      <p:sp>
        <p:nvSpPr>
          <p:cNvPr id="14" name="Oval 13"/>
          <p:cNvSpPr/>
          <p:nvPr/>
        </p:nvSpPr>
        <p:spPr>
          <a:xfrm>
            <a:off x="6428231" y="3899915"/>
            <a:ext cx="214884" cy="214884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7416" y="3867912"/>
            <a:ext cx="481248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Et on ne demande au serveur que la page de cent qui contient cette fenêtre.</a:t>
            </a:r>
          </a:p>
        </p:txBody>
      </p:sp>
      <p:pic>
        <p:nvPicPr>
          <p:cNvPr id="16" name="Picture 15" descr="ui-liste-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791456"/>
            <a:ext cx="7613642" cy="13258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14232" y="4864608"/>
            <a:ext cx="2855671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Après avoir fait défiler jusqu'au fond de la file, la liste montre la 930ᵉ tâche. Le document, lui, ne contient qu'une trentaine de lignes.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VÉRIFIER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Cinq commandes, et ce qu'elles couvrent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554480"/>
            <a:ext cx="270662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COMMANDE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56432" y="1554480"/>
            <a:ext cx="34381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CE QU'ELLE VÉRIFIE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1810512"/>
            <a:ext cx="6400800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901952"/>
            <a:ext cx="27066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go test -race ./...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1901952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28 fonctions de test sur 6 paquets, accès concurrents compris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" y="2491740"/>
            <a:ext cx="6400800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551176"/>
            <a:ext cx="27066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go vet ./...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551176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Les fautes courantes que le compilateur laisse passer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" y="3140964"/>
            <a:ext cx="6400800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200400"/>
            <a:ext cx="27066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go build ./...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200400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La compilation de tous les paquets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3790187"/>
            <a:ext cx="6400800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849624"/>
            <a:ext cx="27066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npm run build --prefix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3849624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La construction du tableau de bord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" y="4439412"/>
            <a:ext cx="6400800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498848"/>
            <a:ext cx="270662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1F1E"/>
                </a:solidFill>
                <a:latin typeface="Arial"/>
              </a:rPr>
              <a:t>npm run test:e2e --prefix web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4498848"/>
            <a:ext cx="3438144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4 scénarios navigateur, sur un serveur isolé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" y="5088636"/>
            <a:ext cx="6400800" cy="1"/>
          </a:xfrm>
          <a:prstGeom prst="rect">
            <a:avLst/>
          </a:prstGeom>
          <a:solidFill>
            <a:srgbClr val="F0F2F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34072" y="1554480"/>
            <a:ext cx="39986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LES QUATRE SCÉNARIOS NAVIGATEUR</a:t>
            </a:r>
          </a:p>
        </p:txBody>
      </p:sp>
      <p:sp>
        <p:nvSpPr>
          <p:cNvPr id="24" name="Oval 23"/>
          <p:cNvSpPr/>
          <p:nvPr/>
        </p:nvSpPr>
        <p:spPr>
          <a:xfrm>
            <a:off x="7461504" y="1961388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90104" y="1865376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Créer une file et suivre le cycle complet d'une tâche</a:t>
            </a:r>
          </a:p>
        </p:txBody>
      </p:sp>
      <p:sp>
        <p:nvSpPr>
          <p:cNvPr id="26" name="Oval 25"/>
          <p:cNvSpPr/>
          <p:nvPr/>
        </p:nvSpPr>
        <p:spPr>
          <a:xfrm>
            <a:off x="7461504" y="2449068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0104" y="2353056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Virtualiser mille tâches et charger la fin de la file</a:t>
            </a:r>
          </a:p>
        </p:txBody>
      </p:sp>
      <p:sp>
        <p:nvSpPr>
          <p:cNvPr id="28" name="Oval 27"/>
          <p:cNvSpPr/>
          <p:nvPr/>
        </p:nvSpPr>
        <p:spPr>
          <a:xfrm>
            <a:off x="7461504" y="2936748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0104" y="2840736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Afficher une erreur réseau, puis récupérer automatiquement</a:t>
            </a:r>
          </a:p>
        </p:txBody>
      </p:sp>
      <p:sp>
        <p:nvSpPr>
          <p:cNvPr id="30" name="Oval 29"/>
          <p:cNvSpPr/>
          <p:nvPr/>
        </p:nvSpPr>
        <p:spPr>
          <a:xfrm>
            <a:off x="7461504" y="3424427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0104" y="3328415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Vérifier que l'interface reste utilisable sur mobile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34072" y="4035552"/>
            <a:ext cx="399867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9AA0A0"/>
                </a:solidFill>
                <a:latin typeface="Arial"/>
              </a:rPr>
              <a:t>CE QUE LES TESTS GO SAVENT FAIRE</a:t>
            </a:r>
          </a:p>
        </p:txBody>
      </p:sp>
      <p:sp>
        <p:nvSpPr>
          <p:cNvPr id="33" name="Oval 32"/>
          <p:cNvSpPr/>
          <p:nvPr/>
        </p:nvSpPr>
        <p:spPr>
          <a:xfrm>
            <a:off x="7461504" y="4442460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90104" y="4346448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Injecter une horloge, pour tester le TTL sans attendre</a:t>
            </a:r>
          </a:p>
        </p:txBody>
      </p:sp>
      <p:sp>
        <p:nvSpPr>
          <p:cNvPr id="35" name="Oval 34"/>
          <p:cNvSpPr/>
          <p:nvPr/>
        </p:nvSpPr>
        <p:spPr>
          <a:xfrm>
            <a:off x="7461504" y="4930140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90104" y="4834128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Simuler une panne disque et vérifier que le tampon est conservé</a:t>
            </a:r>
          </a:p>
        </p:txBody>
      </p:sp>
      <p:sp>
        <p:nvSpPr>
          <p:cNvPr id="37" name="Oval 36"/>
          <p:cNvSpPr/>
          <p:nvPr/>
        </p:nvSpPr>
        <p:spPr>
          <a:xfrm>
            <a:off x="7461504" y="5417820"/>
            <a:ext cx="68580" cy="68580"/>
          </a:xfrm>
          <a:prstGeom prst="ellipse">
            <a:avLst/>
          </a:prstGeom>
          <a:solidFill>
            <a:srgbClr val="217D6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0104" y="5321808"/>
            <a:ext cx="374263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F7573"/>
                </a:solidFill>
                <a:latin typeface="Arial"/>
              </a:rPr>
              <a:t>Tronquer un journal pour rejouer une coupure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" y="5660390"/>
            <a:ext cx="10948111" cy="594106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779261"/>
            <a:ext cx="10545775" cy="411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Les cinq commandes passent au vert sur ce dépôt. Les tests Go restent dans le paquet qu'ils testent : six fichiers ont besoin de champs non exportés.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HONNÊTETÉ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Ce que ce projet ne fait pas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554480"/>
            <a:ext cx="5272887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554480"/>
            <a:ext cx="32004" cy="2395728"/>
          </a:xfrm>
          <a:prstGeom prst="rect">
            <a:avLst/>
          </a:prstGeom>
          <a:solidFill>
            <a:srgbClr val="D5A44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37360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Limites assumées du moteur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15109"/>
            <a:ext cx="4870551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 seul verrou global : pas de lectures parallèles.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 balayage d'expiration est complet à chaque passage.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128" b="0" i="0">
                <a:solidFill>
                  <a:srgbClr val="196750"/>
                </a:solidFill>
                <a:latin typeface="Consolas"/>
              </a:rPr>
              <a:t>contains</a:t>
            </a:r>
            <a:r>
              <a:rPr sz="1200" b="0" i="0">
                <a:solidFill>
                  <a:srgbClr val="6F7573"/>
                </a:solidFill>
                <a:latin typeface="Arial"/>
              </a:rPr>
              <a:t> parcourt toutes les entrées, sans index.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recherches ne sont pas paginées : elles rendent tout.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Un arrêt brutal perd le tampon de la dernière seconde.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97015" y="1554480"/>
            <a:ext cx="5272887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7015" y="1554480"/>
            <a:ext cx="32004" cy="2395728"/>
          </a:xfrm>
          <a:prstGeom prst="rect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6471" y="1737360"/>
            <a:ext cx="487055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F1E"/>
                </a:solidFill>
                <a:latin typeface="Arial"/>
              </a:rPr>
              <a:t>Hors périmètre, et c'était prévu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6471" y="2015109"/>
            <a:ext cx="4870551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Pas de protocole réseau Redis, pas d'authentification.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Les files de tâches ne sont pas persistées.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Aucun worker n'exécute le contenu des tâches.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6F7573"/>
                </a:solidFill>
                <a:latin typeface="Arial"/>
              </a:rPr>
              <a:t>WebAssembly, OPFS, worker navigateur et SDK TypeScript appartiennent aux lots ultérieurs.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4224528"/>
            <a:ext cx="1094811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1F1E"/>
                </a:solidFill>
                <a:latin typeface="Arial"/>
              </a:rPr>
              <a:t>Pourquoi les nommer plutôt que les taire ?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F7573"/>
                </a:solidFill>
                <a:latin typeface="Arial"/>
              </a:rPr>
              <a:t>Parce que chacune de ces limites est le revers d'un choix explicite, et qu'aucune n'est un oubli. Le verrou unique achète la simplicité du raisonnement ; le tampon d'une seconde achète la vitesse d'écriture ; l'absence d'index sur </a:t>
            </a:r>
            <a:r>
              <a:rPr sz="1222" b="0" i="0">
                <a:solidFill>
                  <a:srgbClr val="196750"/>
                </a:solidFill>
                <a:latin typeface="Consolas"/>
              </a:rPr>
              <a:t>contains</a:t>
            </a:r>
            <a:r>
              <a:rPr sz="1300" b="0" i="0">
                <a:solidFill>
                  <a:srgbClr val="6F7573"/>
                </a:solidFill>
                <a:latin typeface="Arial"/>
              </a:rPr>
              <a:t> évite d'alourdir chaque </a:t>
            </a:r>
            <a:r>
              <a:rPr sz="1222" b="0" i="0">
                <a:solidFill>
                  <a:srgbClr val="196750"/>
                </a:solidFill>
                <a:latin typeface="Consolas"/>
              </a:rPr>
              <a:t>SET</a:t>
            </a:r>
            <a:r>
              <a:rPr sz="1300" b="0" i="0">
                <a:solidFill>
                  <a:srgbClr val="6F7573"/>
                </a:solidFill>
                <a:latin typeface="Arial"/>
              </a:rPr>
              <a:t> pour une fonctionnalité secondaire. Un jury peut discuter le compromis — c'est bien qu'il y en ait 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65760"/>
            <a:ext cx="109481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17D65"/>
                </a:solidFill>
                <a:latin typeface="Arial"/>
              </a:rPr>
              <a:t>POUR FINIR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576072"/>
            <a:ext cx="10948111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1F1E"/>
                </a:solidFill>
                <a:latin typeface="Arial"/>
              </a:rPr>
              <a:t>SET age 42, en une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43584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645920"/>
            <a:ext cx="2627299" cy="658368"/>
          </a:xfrm>
          <a:prstGeom prst="rect">
            <a:avLst/>
          </a:prstGeom>
          <a:solidFill>
            <a:srgbClr val="E8F1ED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240784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1 · Découper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split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3281095" y="1929384"/>
            <a:ext cx="82296" cy="91440"/>
          </a:xfrm>
          <a:prstGeom prst="triangle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5395" y="1645920"/>
            <a:ext cx="262729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5123" y="1737360"/>
            <a:ext cx="240784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2 · Reconnaître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Parse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6054699" y="1929384"/>
            <a:ext cx="82296" cy="91440"/>
          </a:xfrm>
          <a:prstGeom prst="triangle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8999" y="1645920"/>
            <a:ext cx="2627299" cy="658368"/>
          </a:xfrm>
          <a:prstGeom prst="rect">
            <a:avLst/>
          </a:prstGeom>
          <a:solidFill>
            <a:srgbClr val="E8F1ED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1737360"/>
            <a:ext cx="240784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3 · Typer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numeric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8828303" y="1929384"/>
            <a:ext cx="82296" cy="91440"/>
          </a:xfrm>
          <a:prstGeom prst="triangle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42603" y="1645920"/>
            <a:ext cx="2627299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331" y="1737360"/>
            <a:ext cx="2407843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4 · Valider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Engine.set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2514600"/>
            <a:ext cx="2602998" cy="658368"/>
          </a:xfrm>
          <a:prstGeom prst="rect">
            <a:avLst/>
          </a:prstGeom>
          <a:solidFill>
            <a:srgbClr val="E8F1ED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606040"/>
            <a:ext cx="238354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5 · Écrire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map + index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3256794" y="2798064"/>
            <a:ext cx="82296" cy="91440"/>
          </a:xfrm>
          <a:prstGeom prst="triangle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1094" y="2514600"/>
            <a:ext cx="260299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80822" y="2606040"/>
            <a:ext cx="238354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6 · Empiler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record</a:t>
            </a:r>
          </a:p>
        </p:txBody>
      </p:sp>
      <p:sp>
        <p:nvSpPr>
          <p:cNvPr id="21" name="Isosceles Triangle 20"/>
          <p:cNvSpPr/>
          <p:nvPr/>
        </p:nvSpPr>
        <p:spPr>
          <a:xfrm rot="5400000">
            <a:off x="6006096" y="2798064"/>
            <a:ext cx="82296" cy="91440"/>
          </a:xfrm>
          <a:prstGeom prst="triangle">
            <a:avLst/>
          </a:prstGeom>
          <a:solidFill>
            <a:srgbClr val="9AA0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0396" y="2514600"/>
            <a:ext cx="2602998" cy="658368"/>
          </a:xfrm>
          <a:prstGeom prst="rect">
            <a:avLst/>
          </a:prstGeom>
          <a:solidFill>
            <a:srgbClr val="E8F1ED"/>
          </a:solidFill>
          <a:ln w="9525">
            <a:solidFill>
              <a:srgbClr val="E6E9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0124" y="2606040"/>
            <a:ext cx="238354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F1E"/>
                </a:solidFill>
                <a:latin typeface="Arial"/>
              </a:rPr>
              <a:t>7 · Synchroniser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F7573"/>
                </a:solidFill>
                <a:latin typeface="Arial"/>
              </a:rPr>
              <a:t>AppendAOF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356" y="2578608"/>
            <a:ext cx="2627546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AA0A0"/>
                </a:solidFill>
                <a:latin typeface="Arial"/>
              </a:rPr>
              <a:t>les six premières : en mémoire, en microsecondes
la septième : sur le disque, dans la seconde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" y="3611880"/>
            <a:ext cx="10948111" cy="1"/>
          </a:xfrm>
          <a:prstGeom prst="rect">
            <a:avLst/>
          </a:prstGeom>
          <a:solidFill>
            <a:srgbClr val="E6E9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886200"/>
            <a:ext cx="323789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6750"/>
                </a:solidFill>
                <a:latin typeface="Arial"/>
              </a:rPr>
              <a:t>Une décision prise une fois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297680"/>
            <a:ext cx="323789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Nombre ou chaîne : le type est fixé à l'écriture, et toutes les recherches en découlent.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71162" y="3886200"/>
            <a:ext cx="323789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6750"/>
                </a:solidFill>
                <a:latin typeface="Arial"/>
              </a:rPr>
              <a:t>Un ordre qui ne change jamais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1162" y="4297680"/>
            <a:ext cx="323789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Valider, verrouiller, écrire en mémoire, journaliser, synchroniser. Chaque inversion serait un bug.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532" y="3886200"/>
            <a:ext cx="323789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96750"/>
                </a:solidFill>
                <a:latin typeface="Arial"/>
              </a:rPr>
              <a:t>Une panne prévue à chaque étape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532" y="4297680"/>
            <a:ext cx="323789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F7573"/>
                </a:solidFill>
                <a:latin typeface="Arial"/>
              </a:rPr>
              <a:t>Ligne tronquée, snapshot interrompu, disque plein : chaque cas a une réponse écrite et testée.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" y="5833872"/>
            <a:ext cx="10948111" cy="420624"/>
          </a:xfrm>
          <a:prstGeom prst="rect">
            <a:avLst/>
          </a:prstGeom>
          <a:solidFill>
            <a:srgbClr val="E8F1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952744"/>
            <a:ext cx="1054577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96750"/>
                </a:solidFill>
                <a:latin typeface="Arial"/>
              </a:rPr>
              <a:t>Merci. Le code, le README et cette présentation disent la même chose — c'était le but.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373368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WasmRedis · moteur clé-valeur en 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72623" y="6373368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2C7C5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